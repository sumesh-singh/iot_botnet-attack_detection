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72" r:id="rId4"/>
    <p:sldId id="273" r:id="rId5"/>
    <p:sldId id="263" r:id="rId6"/>
    <p:sldId id="264" r:id="rId7"/>
    <p:sldId id="265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94FE3-85C0-772F-BFE6-EE010879E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7DD54-85D2-77BD-E1B1-A60B9F88EF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DBD76-7C5A-71F7-5565-47DA95AD8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9331E-0BA9-169A-42D9-10C0D61BA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98F4F-CFA3-A724-9B62-F56FA8B0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8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BE06-77C5-DE9D-6B62-142A50B5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BF760-B0E5-1CE2-615D-486E635E3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EB51E-5E01-B495-306A-2A5D43F6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797AD-6B7A-AB40-85E1-7CD5EB5F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A6EFEE-8AD8-0D68-9192-44D573320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2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8A4A-ACD1-0394-9383-B758C04AC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664DE-A10B-7BEB-CE56-BA8F5BB75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8085E-C88E-4278-517A-18F01462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4527C-4930-C420-2552-B9884278F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6F1F2-D551-9C44-FAE6-D7B061E5C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30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E8BE-D6D6-A8EE-D66D-7B7173C9B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A3072-3779-69F2-405D-59E245BF16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BDC15-B29F-F6F1-B800-34A959A3B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06CE4C-EBF3-7705-C965-9CA16744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6527A-D3FC-47B6-20B8-85B9E0F80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B61E6-3F65-580D-4668-179371E78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7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F5FDC-F2FF-D3C2-A3CB-5CD9DB037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E863E-249B-C154-3E70-431928D56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8071B3-6274-A834-4445-27C7F9B86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4D7B4-7229-8C79-87F1-6E55EA8638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89515D-F00D-A258-72FB-BCDFEBBFE7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7341F0-72A4-01CA-A31D-0B1A7D8DE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15925-6473-2B4D-7DA1-CE832BBCC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B68A2-1ED7-972F-1767-57056460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5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A4C4-A671-7ECE-AB9D-AC90167D7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64189-E786-9940-12E1-D5FF11ED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4D6A6B-9CD4-D080-E23D-9E4BF171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A1B024-DE11-C886-6E4F-3C9E9E4B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1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9727E7-661A-0D0A-D733-84E21BA33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E849C-77B6-2B26-4387-EBF9D02B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F23CC-BC5C-1F5A-C070-D6BD2014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4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BF185-5F2C-1533-0840-6C65282C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C8BE-EE49-03EA-C71F-8D4024CC8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8DA1A-CCE9-100C-C979-F77B3DCBA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86418-0CE9-8788-C906-AED21546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48A818-E395-6D1D-654E-FFBCAC2B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333D8-C976-12FF-6D52-802CD7948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69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60933-C6C6-AE2D-65E1-13E3F724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F2D71-B079-1875-58EF-A43E3E529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D00FA-C7A6-5381-3C5D-FAD709E21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3BE5C-2532-B56F-B4E6-D052C5AA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68E16-C52A-929E-8C4D-EEC6172B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D248E-F970-6A0C-E492-F83DFEB8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585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BA9B2-03EB-57E3-A965-794F4F34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5EC9F-287D-806C-33EC-630EBA2EA7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9B362-C4E8-8FF3-289A-148647FF9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C7313-315B-FFA0-6829-F6D5A756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0B420-B308-E537-1E74-4B0D875B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75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2FEAA-F7A8-C43F-A471-0725F56D7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09C17-EFAB-5DC0-ECBC-C8C768631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3A340-B98D-2145-EF49-B211E9C2D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9AD6-709E-0A3D-C49C-6B84137E5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45A6-4432-FEDD-09C1-A5326D59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888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29F913-3E86-5E8C-DB14-09BC913C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C90199-EEBD-C0FA-8F6D-6401DD042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6E371-2737-A3C9-A899-350B8A7A3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C553F-8882-1A45-1E58-A1248E8EF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53B63-0861-F60C-2766-1EF381AD2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5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65126"/>
            <a:ext cx="8058151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Enhancing IOT </a:t>
            </a:r>
            <a:r>
              <a:rPr lang="en-IN" dirty="0" err="1"/>
              <a:t>BotNet</a:t>
            </a:r>
            <a:r>
              <a:rPr lang="en-IN" dirty="0"/>
              <a:t> Detection through Hybrid Ensemble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30400"/>
            <a:ext cx="8480323" cy="41957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400" dirty="0"/>
          </a:p>
          <a:p>
            <a:endParaRPr lang="en-IN" sz="1400" dirty="0"/>
          </a:p>
          <a:p>
            <a:endParaRPr lang="en-IN" sz="1400" dirty="0"/>
          </a:p>
          <a:p>
            <a:pPr marL="0" indent="0">
              <a:buNone/>
            </a:pPr>
            <a:endParaRPr lang="en-IN" sz="1400" dirty="0"/>
          </a:p>
          <a:p>
            <a:r>
              <a:rPr sz="1400" dirty="0"/>
              <a:t>Student:</a:t>
            </a:r>
            <a:r>
              <a:rPr lang="en-IN" sz="1400" dirty="0"/>
              <a:t> </a:t>
            </a:r>
            <a:r>
              <a:rPr lang="en-IN" sz="1400" dirty="0" err="1"/>
              <a:t>Kotiwale</a:t>
            </a:r>
            <a:r>
              <a:rPr lang="en-IN" sz="1400" dirty="0"/>
              <a:t> Sumesh Singh - </a:t>
            </a:r>
            <a:r>
              <a:rPr sz="1400" dirty="0"/>
              <a:t>160124862043</a:t>
            </a:r>
            <a:endParaRPr lang="en-IN" sz="1400" dirty="0"/>
          </a:p>
          <a:p>
            <a:r>
              <a:rPr lang="en-IN" sz="1400" dirty="0"/>
              <a:t>Mentor: Mr. Krishna Prasad</a:t>
            </a:r>
          </a:p>
          <a:p>
            <a:r>
              <a:rPr sz="1400" dirty="0"/>
              <a:t>Department: </a:t>
            </a:r>
            <a:r>
              <a:rPr lang="en-IN" sz="1400" dirty="0"/>
              <a:t>MCA</a:t>
            </a:r>
            <a:endParaRPr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7" y="1488613"/>
            <a:ext cx="7570842" cy="49220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b="1" dirty="0"/>
              <a:t>Definition: </a:t>
            </a:r>
            <a:r>
              <a:rPr lang="en-US" sz="1400" dirty="0"/>
              <a:t>A botnet (short for "robot network") is a logical collection or group of Internet-connected devices (e.g., computers, smartphones, IoT devices) whose security has been breached.</a:t>
            </a:r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b="1" dirty="0"/>
              <a:t>Components: </a:t>
            </a:r>
            <a:r>
              <a:rPr lang="en-US" sz="1400" dirty="0"/>
              <a:t>Each compromised device is known as a "bot" or "zombie". These devices are controlled remotely by a cybercriminal, known as the "bot herder" or "botmaster," via Command and Control (C&amp;C) software or servers.</a:t>
            </a:r>
          </a:p>
          <a:p>
            <a:pPr marL="0" indent="0">
              <a:buNone/>
            </a:pPr>
            <a:r>
              <a:rPr lang="en-US" sz="1400" dirty="0"/>
              <a:t>• </a:t>
            </a:r>
            <a:r>
              <a:rPr lang="en-US" sz="1400" b="1" dirty="0"/>
              <a:t>Purpose (Malicious): </a:t>
            </a:r>
            <a:r>
              <a:rPr lang="en-US" sz="1400" dirty="0"/>
              <a:t>Botnets are used to carry out coordinated, large-scale malicious activities, including Distributed Denial-of-Service (DDoS) attacks, sending spam, stealing data, conducting financial fraud, and distributing malware (such as ransomware).</a:t>
            </a:r>
            <a:endParaRPr lang="en-IN" sz="1600" b="1" dirty="0"/>
          </a:p>
          <a:p>
            <a:pPr marL="0" indent="0">
              <a:buNone/>
            </a:pPr>
            <a:endParaRPr lang="en-IN" sz="1600" b="1" dirty="0"/>
          </a:p>
          <a:p>
            <a:pPr marL="0" indent="0">
              <a:buNone/>
            </a:pPr>
            <a:r>
              <a:rPr sz="1600" b="1" dirty="0"/>
              <a:t>The Growing Threat Landscape</a:t>
            </a:r>
          </a:p>
          <a:p>
            <a:pPr>
              <a:lnSpc>
                <a:spcPct val="100000"/>
              </a:lnSpc>
            </a:pPr>
            <a:r>
              <a:rPr sz="1400" b="1" dirty="0"/>
              <a:t>Botnet Attacks</a:t>
            </a:r>
            <a:r>
              <a:rPr sz="1400" dirty="0"/>
              <a:t>: Coordinated networks of compromised devices executing malicious activities</a:t>
            </a:r>
          </a:p>
          <a:p>
            <a:pPr>
              <a:lnSpc>
                <a:spcPct val="100000"/>
              </a:lnSpc>
            </a:pPr>
            <a:r>
              <a:rPr sz="1400" b="1" dirty="0"/>
              <a:t>Scale: </a:t>
            </a:r>
            <a:r>
              <a:rPr sz="1400" dirty="0"/>
              <a:t>Cisco predicted attacks to double from 7.9M (2018) to 15.4M (2023)</a:t>
            </a:r>
          </a:p>
          <a:p>
            <a:pPr>
              <a:lnSpc>
                <a:spcPct val="100000"/>
              </a:lnSpc>
            </a:pPr>
            <a:r>
              <a:rPr sz="1400" b="1" dirty="0"/>
              <a:t>Impact</a:t>
            </a:r>
            <a:r>
              <a:rPr sz="1400" dirty="0"/>
              <a:t>: 60% of attacks target financial and telecom sectors</a:t>
            </a:r>
          </a:p>
          <a:p>
            <a:endParaRPr sz="1400" dirty="0"/>
          </a:p>
          <a:p>
            <a:pPr marL="0" indent="0">
              <a:buNone/>
            </a:pPr>
            <a:r>
              <a:rPr sz="1600" b="1" dirty="0"/>
              <a:t>IoT Vulnerability Factors</a:t>
            </a: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Resource Constraints:</a:t>
            </a:r>
            <a:r>
              <a:rPr lang="en-IN" sz="1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Limited CPU, memory, and processing power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Massive Scale:</a:t>
            </a:r>
            <a:r>
              <a:rPr lang="en-IN" sz="1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Billions of connected devices creating attack surfaces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Heterogeneity:</a:t>
            </a:r>
            <a:r>
              <a:rPr lang="en-IN" sz="1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Diverse device types with varying security implementations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12475E-12DD-DACA-53BA-4E8AC513B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809518"/>
              </p:ext>
            </p:extLst>
          </p:nvPr>
        </p:nvGraphicFramePr>
        <p:xfrm>
          <a:off x="0" y="865240"/>
          <a:ext cx="9144001" cy="5992757"/>
        </p:xfrm>
        <a:graphic>
          <a:graphicData uri="http://schemas.openxmlformats.org/drawingml/2006/table">
            <a:tbl>
              <a:tblPr/>
              <a:tblGrid>
                <a:gridCol w="2278618">
                  <a:extLst>
                    <a:ext uri="{9D8B030D-6E8A-4147-A177-3AD203B41FA5}">
                      <a16:colId xmlns:a16="http://schemas.microsoft.com/office/drawing/2014/main" val="765528630"/>
                    </a:ext>
                  </a:extLst>
                </a:gridCol>
                <a:gridCol w="2047576">
                  <a:extLst>
                    <a:ext uri="{9D8B030D-6E8A-4147-A177-3AD203B41FA5}">
                      <a16:colId xmlns:a16="http://schemas.microsoft.com/office/drawing/2014/main" val="486404499"/>
                    </a:ext>
                  </a:extLst>
                </a:gridCol>
                <a:gridCol w="2320412">
                  <a:extLst>
                    <a:ext uri="{9D8B030D-6E8A-4147-A177-3AD203B41FA5}">
                      <a16:colId xmlns:a16="http://schemas.microsoft.com/office/drawing/2014/main" val="517500215"/>
                    </a:ext>
                  </a:extLst>
                </a:gridCol>
                <a:gridCol w="2497395">
                  <a:extLst>
                    <a:ext uri="{9D8B030D-6E8A-4147-A177-3AD203B41FA5}">
                      <a16:colId xmlns:a16="http://schemas.microsoft.com/office/drawing/2014/main" val="3466777125"/>
                    </a:ext>
                  </a:extLst>
                </a:gridCol>
              </a:tblGrid>
              <a:tr h="8135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Paper Name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Algorithms Used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Description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Use in My Project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348718"/>
                  </a:ext>
                </a:extLst>
              </a:tr>
              <a:tr h="1726393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N-</a:t>
                      </a:r>
                      <a:r>
                        <a:rPr lang="en-US" sz="135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BaIoT</a:t>
                      </a:r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—Network-Based Detection of IoT Botnet Attacks Using Deep Autoencoders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Deep Autoencoders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Introduced the N-BaIoT dataset and used autoencoders to detect anomalies in IoT network traffic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Provides the foundational dataset and anomaly detection approach; informs dataset selection and baseline method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895809"/>
                  </a:ext>
                </a:extLst>
              </a:tr>
              <a:tr h="1726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/>
                        <a:t>CNN-based Detection (Karaca &amp; Çetin, 2021)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CNN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Applied CNN for IoT traffic pattern recognition to detect botnet activities by spatial feature extraction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Spatial feature extraction techniques help improve feature engineering in ensemble approach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872551"/>
                  </a:ext>
                </a:extLst>
              </a:tr>
              <a:tr h="1726393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Efficient Malware Classification with Spiking Neural Networks: A Case Study on N-</a:t>
                      </a:r>
                      <a:r>
                        <a:rPr lang="en-US" sz="135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BaIoT</a:t>
                      </a:r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Dataset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/>
                        <a:t>Spiking Neural Networks (SNNs)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/>
                        <a:t>Bio-inspired, energy-efficient malware classification by modeling temporal dynamics of malware activity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dirty="0"/>
                        <a:t>Influences the design principles for energy-efficient and lightweight models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23328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2CB75F0-EF7E-AFEE-9992-26DF4FF92F97}"/>
              </a:ext>
            </a:extLst>
          </p:cNvPr>
          <p:cNvSpPr txBox="1"/>
          <p:nvPr/>
        </p:nvSpPr>
        <p:spPr>
          <a:xfrm>
            <a:off x="368710" y="127422"/>
            <a:ext cx="458674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Literature survey: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57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F21C21-C278-87A4-046B-406B0359A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152635"/>
              </p:ext>
            </p:extLst>
          </p:nvPr>
        </p:nvGraphicFramePr>
        <p:xfrm>
          <a:off x="0" y="0"/>
          <a:ext cx="9144000" cy="6858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387522927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9039306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343766727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761439065"/>
                    </a:ext>
                  </a:extLst>
                </a:gridCol>
              </a:tblGrid>
              <a:tr h="4158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Paper Name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Algorithms Used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/>
                        <a:t>Description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Use in My Project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124015"/>
                  </a:ext>
                </a:extLst>
              </a:tr>
              <a:tr h="1753884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Anomaly detection in Internet of Things using feature selection and classification based on Logistic Regression and Artificial Neural Network on N-</a:t>
                      </a:r>
                      <a:r>
                        <a:rPr lang="en-US" sz="135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BaIoT</a:t>
                      </a:r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dataset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ANN with Feature Selection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Combines feature selection with classification models to enhance anomaly detection in IoT networks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Drives use of PCA and scaling techniques to improve feature selection and reduce dimensionality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294993"/>
                  </a:ext>
                </a:extLst>
              </a:tr>
              <a:tr h="1562742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Learning-Based IoT-Botnet Attack Detection with Sequential Architecture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Sequential Machine Learning Models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Temporal relationship modeling for detecting botnet behavior based on sequential patterns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Directly informs our concept drift detection and adaptive learning approach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515699"/>
                  </a:ext>
                </a:extLst>
              </a:tr>
              <a:tr h="1753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400" b="1" dirty="0"/>
                        <a:t>SkipGateNet: A Lightweight CNN-LSTM HybridModel With Learnable Skip Connections forEfficient Botnet Attack Detection in IoT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CNN-LSTM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Lightweight hybrid model achieving high accuracy (99.7%) in botnet detection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Sets performance benchmarks and motivates combining models for balanced efficiency and accuracy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951797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Horizontal Federated Learning Approach to IoT Malware Traffic Detection: An Empirical Evaluation with N-</a:t>
                      </a:r>
                      <a:r>
                        <a:rPr lang="en-US" sz="135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BaIoT</a:t>
                      </a:r>
                      <a:r>
                        <a:rPr lang="en-US" sz="135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Dataset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Horizontal Federated Learning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Privacy-preserving distributed learning applied to IoT detection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Suggests future integration into our adaptive ensemble to enhance data privacy and scalability</a:t>
                      </a:r>
                    </a:p>
                  </a:txBody>
                  <a:tcPr marL="37512" marR="37512" marT="18756" marB="187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801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162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Existing System: IoT </a:t>
            </a:r>
            <a:r>
              <a:rPr dirty="0" err="1"/>
              <a:t>BotScan</a:t>
            </a:r>
            <a:r>
              <a:rPr dirty="0"/>
              <a:t>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93134"/>
            <a:ext cx="7886700" cy="4699322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sz="2900" b="1" dirty="0"/>
              <a:t>Architecture Overview</a:t>
            </a:r>
          </a:p>
          <a:p>
            <a:r>
              <a:rPr sz="3000" dirty="0"/>
              <a:t>Data Preprocessing → Feature Engineering → Random Forest → Classification</a:t>
            </a:r>
          </a:p>
          <a:p>
            <a:endParaRPr dirty="0"/>
          </a:p>
          <a:p>
            <a:pPr marL="0" indent="0">
              <a:buNone/>
            </a:pPr>
            <a:r>
              <a:rPr sz="2900" b="1" dirty="0"/>
              <a:t>Data Preprocessing</a:t>
            </a:r>
          </a:p>
          <a:p>
            <a:r>
              <a:rPr sz="2900" dirty="0"/>
              <a:t>- Duplicate and </a:t>
            </a:r>
            <a:r>
              <a:rPr sz="2900" dirty="0" err="1"/>
              <a:t>NaN</a:t>
            </a:r>
            <a:r>
              <a:rPr sz="2900" dirty="0"/>
              <a:t> removal</a:t>
            </a:r>
          </a:p>
          <a:p>
            <a:r>
              <a:rPr sz="2900" dirty="0"/>
              <a:t>- 80-20 train-test split</a:t>
            </a:r>
          </a:p>
          <a:p>
            <a:r>
              <a:rPr sz="2900" dirty="0"/>
              <a:t>- Standard and </a:t>
            </a:r>
            <a:r>
              <a:rPr sz="2900" dirty="0" err="1"/>
              <a:t>MinMax</a:t>
            </a:r>
            <a:r>
              <a:rPr sz="2900" dirty="0"/>
              <a:t> scaling</a:t>
            </a:r>
          </a:p>
          <a:p>
            <a:endParaRPr dirty="0"/>
          </a:p>
          <a:p>
            <a:pPr marL="0" indent="0">
              <a:buNone/>
            </a:pPr>
            <a:r>
              <a:rPr sz="2900" b="1" dirty="0"/>
              <a:t>Feature Engineering</a:t>
            </a:r>
          </a:p>
          <a:p>
            <a:r>
              <a:rPr sz="2900" dirty="0"/>
              <a:t>- PCA with 95% variance retention</a:t>
            </a:r>
          </a:p>
          <a:p>
            <a:endParaRPr dirty="0"/>
          </a:p>
          <a:p>
            <a:pPr marL="0" indent="0">
              <a:buNone/>
            </a:pPr>
            <a:r>
              <a:rPr sz="2900" b="1" dirty="0"/>
              <a:t>Model Performance</a:t>
            </a:r>
          </a:p>
          <a:p>
            <a:r>
              <a:rPr sz="2900" dirty="0"/>
              <a:t>- 99.94% KNN Accuracy</a:t>
            </a:r>
          </a:p>
          <a:p>
            <a:r>
              <a:rPr sz="2900" dirty="0"/>
              <a:t>- 99.55% Random Forest</a:t>
            </a:r>
          </a:p>
          <a:p>
            <a:r>
              <a:rPr sz="2900" dirty="0"/>
              <a:t>- 86.20% Best DL (CNN)</a:t>
            </a:r>
          </a:p>
          <a:p>
            <a:r>
              <a:rPr sz="2900" dirty="0"/>
              <a:t>- 5.5s RF Test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System: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459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Detailed Results Comparison</a:t>
            </a:r>
            <a:endParaRPr lang="en-IN" sz="1600" b="1" dirty="0"/>
          </a:p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sz="1400" b="1" dirty="0"/>
              <a:t>Machine Learning Models</a:t>
            </a:r>
          </a:p>
          <a:p>
            <a:r>
              <a:rPr sz="1400" dirty="0"/>
              <a:t>KNN: 99.94% Acc, High Test Time</a:t>
            </a:r>
          </a:p>
          <a:p>
            <a:r>
              <a:rPr sz="1400" dirty="0"/>
              <a:t>Random Forest: 99.55% Acc, 5.5s Test Time</a:t>
            </a:r>
          </a:p>
          <a:p>
            <a:r>
              <a:rPr sz="1400" dirty="0"/>
              <a:t>Extra Trees: 99.55% Acc, Low Test Time</a:t>
            </a:r>
          </a:p>
          <a:p>
            <a:r>
              <a:rPr sz="1400" dirty="0"/>
              <a:t>Decision Tree: 99.54% Acc, Low Test Time</a:t>
            </a:r>
          </a:p>
          <a:p>
            <a:endParaRPr sz="1400" dirty="0"/>
          </a:p>
          <a:p>
            <a:pPr marL="0" indent="0">
              <a:buNone/>
            </a:pPr>
            <a:r>
              <a:rPr sz="1400" b="1" dirty="0"/>
              <a:t>Deep Learning Models</a:t>
            </a:r>
          </a:p>
          <a:p>
            <a:r>
              <a:rPr sz="1400" dirty="0"/>
              <a:t>CNN: 86.20% Acc, 20-25s Test Time</a:t>
            </a:r>
          </a:p>
          <a:p>
            <a:r>
              <a:rPr sz="1400" dirty="0"/>
              <a:t>LSTM: 85.30% Acc, 20-25s Test Time</a:t>
            </a:r>
          </a:p>
          <a:p>
            <a:r>
              <a:rPr sz="1400" dirty="0"/>
              <a:t>RNN: 82.10% Acc, 20-25s Test Time</a:t>
            </a:r>
          </a:p>
          <a:p>
            <a:endParaRPr sz="1400" dirty="0"/>
          </a:p>
          <a:p>
            <a:pPr marL="0" indent="0">
              <a:buNone/>
            </a:pPr>
            <a:r>
              <a:rPr sz="1400" b="1" dirty="0"/>
              <a:t>Key Finding: </a:t>
            </a:r>
            <a:r>
              <a:rPr sz="1400" dirty="0"/>
              <a:t>Random Forest provides optimal balance of accuracy (99.55%) and efficiency (5.5s), making it ideal for IoT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System: Critical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Real-World Deployment Challenges</a:t>
            </a:r>
          </a:p>
          <a:p>
            <a:r>
              <a:rPr sz="1400" dirty="0"/>
              <a:t>1. Adversarial Vulnerability: No defense against crafted evasion attacks</a:t>
            </a:r>
          </a:p>
          <a:p>
            <a:r>
              <a:rPr sz="1400" dirty="0"/>
              <a:t>2. Static Architecture: Cannot adapt to evolving attack patterns</a:t>
            </a:r>
          </a:p>
          <a:p>
            <a:r>
              <a:rPr sz="1400" dirty="0"/>
              <a:t>3. Limited Validation: Tested only on N-</a:t>
            </a:r>
            <a:r>
              <a:rPr sz="1400" dirty="0" err="1"/>
              <a:t>BaIoT</a:t>
            </a:r>
            <a:r>
              <a:rPr sz="1400" dirty="0"/>
              <a:t> dataset</a:t>
            </a:r>
          </a:p>
          <a:p>
            <a:r>
              <a:rPr sz="1400" dirty="0"/>
              <a:t>4. Deployment Gaps: No real-time adaptation, limited scalability validation</a:t>
            </a:r>
          </a:p>
          <a:p>
            <a:endParaRPr sz="1400" dirty="0"/>
          </a:p>
          <a:p>
            <a:pPr marL="0" indent="0">
              <a:buNone/>
            </a:pPr>
            <a:r>
              <a:rPr sz="1400" b="1" dirty="0"/>
              <a:t>Critical Gap: </a:t>
            </a:r>
            <a:r>
              <a:rPr sz="1400" dirty="0"/>
              <a:t>While IoT </a:t>
            </a:r>
            <a:r>
              <a:rPr sz="1400" dirty="0" err="1"/>
              <a:t>BotScan</a:t>
            </a:r>
            <a:r>
              <a:rPr sz="1400" dirty="0"/>
              <a:t> achieved 99.55% accuracy in controlled conditions, it lacks the robustness and adaptability required for real-world IoT security</a:t>
            </a:r>
            <a:r>
              <a:rPr lang="en-IN" sz="1400" dirty="0"/>
              <a:t>.</a:t>
            </a:r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Research </a:t>
            </a:r>
            <a:r>
              <a:rPr lang="en-IN" dirty="0"/>
              <a:t>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/>
              <a:t>Primary Research Goals</a:t>
            </a:r>
          </a:p>
          <a:p>
            <a:r>
              <a:rPr sz="1400" dirty="0"/>
              <a:t>1. Adversarial Robustness: Adversarial training for ensemble models</a:t>
            </a:r>
          </a:p>
          <a:p>
            <a:r>
              <a:rPr sz="1400" dirty="0"/>
              <a:t>2. Adaptive Learning: Automated concept drift detection &amp; incremental learning</a:t>
            </a:r>
          </a:p>
          <a:p>
            <a:r>
              <a:rPr sz="1400" dirty="0"/>
              <a:t>3. Comprehensive Validation: Multi-dataset evaluation &amp; cross-environment testing</a:t>
            </a:r>
          </a:p>
          <a:p>
            <a:pPr marL="0" indent="0">
              <a:buNone/>
            </a:pPr>
            <a:endParaRPr sz="1400" dirty="0"/>
          </a:p>
          <a:p>
            <a:pPr marL="0" indent="0">
              <a:buNone/>
            </a:pPr>
            <a:r>
              <a:rPr sz="1400" b="1" dirty="0"/>
              <a:t>Innovation Focus: </a:t>
            </a:r>
            <a:r>
              <a:rPr sz="1400" dirty="0"/>
              <a:t>Transform static laboratory model into dynamic, production-ready defense system capable of handling real-world IoT security challenges</a:t>
            </a:r>
            <a:r>
              <a:rPr lang="en-IN" sz="1400" dirty="0"/>
              <a:t>.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System: Resilient Adaptive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Core Innovation: Stacking Ensemble</a:t>
            </a:r>
          </a:p>
          <a:p>
            <a:r>
              <a:rPr sz="1400" dirty="0"/>
              <a:t>- Random Forest + </a:t>
            </a:r>
            <a:r>
              <a:rPr sz="1400" dirty="0" err="1"/>
              <a:t>XGBoost</a:t>
            </a:r>
            <a:r>
              <a:rPr sz="1400" dirty="0"/>
              <a:t> + </a:t>
            </a:r>
            <a:r>
              <a:rPr sz="1400" dirty="0" err="1"/>
              <a:t>LightGBM</a:t>
            </a:r>
            <a:r>
              <a:rPr sz="1400" dirty="0"/>
              <a:t> → Meta-Learner → Robust Prediction</a:t>
            </a:r>
            <a:endParaRPr lang="en-IN" sz="1400" dirty="0"/>
          </a:p>
          <a:p>
            <a:pPr marL="0" indent="0">
              <a:buNone/>
            </a:pPr>
            <a:r>
              <a:rPr sz="1400" b="1" dirty="0"/>
              <a:t>1. Adversarial Training</a:t>
            </a:r>
          </a:p>
          <a:p>
            <a:r>
              <a:rPr sz="1400" dirty="0"/>
              <a:t>- FGSM, PGD, C&amp;W attack generation</a:t>
            </a:r>
          </a:p>
          <a:p>
            <a:r>
              <a:rPr sz="1400" dirty="0"/>
              <a:t>- Robust training with adversarial examples</a:t>
            </a:r>
          </a:p>
          <a:p>
            <a:r>
              <a:rPr sz="1400" dirty="0"/>
              <a:t>- Gradient masking defense mechanisms</a:t>
            </a:r>
          </a:p>
          <a:p>
            <a:pPr marL="0" indent="0">
              <a:buNone/>
            </a:pPr>
            <a:r>
              <a:rPr sz="1400" b="1" dirty="0"/>
              <a:t>2. Concept Drift Detection</a:t>
            </a:r>
          </a:p>
          <a:p>
            <a:r>
              <a:rPr sz="1400" dirty="0"/>
              <a:t>- Kolmogorov-Smirnov tests</a:t>
            </a:r>
            <a:r>
              <a:rPr lang="en-IN" sz="1400" dirty="0"/>
              <a:t>(KS Test)</a:t>
            </a:r>
            <a:r>
              <a:rPr sz="1400" dirty="0"/>
              <a:t>, Page-Hinkley change detection</a:t>
            </a:r>
          </a:p>
          <a:p>
            <a:r>
              <a:rPr sz="1400" dirty="0"/>
              <a:t>- Performance degradation monitoring</a:t>
            </a:r>
          </a:p>
          <a:p>
            <a:pPr marL="0" indent="0">
              <a:buNone/>
            </a:pPr>
            <a:r>
              <a:rPr sz="1400" b="1" dirty="0"/>
              <a:t>3. Multi-Dataset Integration</a:t>
            </a:r>
          </a:p>
          <a:p>
            <a:r>
              <a:rPr sz="1400" b="1" dirty="0"/>
              <a:t>N-</a:t>
            </a:r>
            <a:r>
              <a:rPr sz="1400" b="1" dirty="0" err="1"/>
              <a:t>BaIoT</a:t>
            </a:r>
            <a:r>
              <a:rPr sz="1400" b="1" dirty="0"/>
              <a:t> (Baseline)</a:t>
            </a:r>
            <a:r>
              <a:rPr lang="en-IN" sz="1400" b="1" dirty="0"/>
              <a:t> – 8.14gb </a:t>
            </a:r>
            <a:r>
              <a:rPr lang="en-IN" sz="1400" dirty="0"/>
              <a:t>-</a:t>
            </a:r>
            <a:r>
              <a:rPr lang="en-US" sz="1400" dirty="0"/>
              <a:t>This dataset addresses the lack of public botnet datasets, especially for the IoT. It suggests real traffic data, gathered from 9 commercial IoT devices authentically infected by Mirai and BASHLITE.</a:t>
            </a:r>
            <a:endParaRPr sz="1400" dirty="0"/>
          </a:p>
          <a:p>
            <a:r>
              <a:rPr sz="1400" b="1" dirty="0"/>
              <a:t>IoT-23 (Validation)</a:t>
            </a:r>
            <a:r>
              <a:rPr lang="en-IN" sz="1400" b="1" dirty="0"/>
              <a:t> – 8.7gb </a:t>
            </a:r>
            <a:r>
              <a:rPr lang="en-IN" sz="1400" dirty="0"/>
              <a:t>- </a:t>
            </a:r>
            <a:r>
              <a:rPr lang="en-US" sz="1400" dirty="0"/>
              <a:t> It has 20 malware captures executed in IoT devices, and 3 captures for benign IoT devices traffic</a:t>
            </a:r>
            <a:endParaRPr sz="1400" b="1" dirty="0"/>
          </a:p>
          <a:p>
            <a:r>
              <a:rPr sz="1400" b="1" dirty="0" err="1"/>
              <a:t>BoT</a:t>
            </a:r>
            <a:r>
              <a:rPr sz="1400" b="1" dirty="0"/>
              <a:t>-IoT (Diverse attacks)</a:t>
            </a:r>
            <a:r>
              <a:rPr lang="en-IN" sz="1400" b="1" dirty="0"/>
              <a:t> – 15gb </a:t>
            </a:r>
            <a:r>
              <a:rPr lang="en-IN" sz="1400" dirty="0"/>
              <a:t>– </a:t>
            </a:r>
            <a:r>
              <a:rPr lang="en-US" sz="1400" dirty="0"/>
              <a:t> </a:t>
            </a:r>
            <a:r>
              <a:rPr lang="en-US" sz="1400" dirty="0" err="1"/>
              <a:t>BoT</a:t>
            </a:r>
            <a:r>
              <a:rPr lang="en-US" sz="1400" dirty="0"/>
              <a:t>-IoT dataset was created by designing a realistic network environment in the Cyber Range Lab</a:t>
            </a:r>
            <a:endParaRPr lang="en-IN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Stacking Ensemble Design</a:t>
            </a:r>
          </a:p>
          <a:p>
            <a:r>
              <a:rPr sz="1400" dirty="0"/>
              <a:t>Random Forest: Proven performance, low overfitting</a:t>
            </a:r>
          </a:p>
          <a:p>
            <a:r>
              <a:rPr sz="1400" dirty="0" err="1"/>
              <a:t>XGBoost</a:t>
            </a:r>
            <a:r>
              <a:rPr sz="1400" dirty="0"/>
              <a:t>: Gradient boosting, feature importance</a:t>
            </a:r>
          </a:p>
          <a:p>
            <a:r>
              <a:rPr sz="1400" dirty="0" err="1"/>
              <a:t>LightGBM</a:t>
            </a:r>
            <a:r>
              <a:rPr sz="1400" dirty="0"/>
              <a:t>: Fast training, memory efficiency</a:t>
            </a:r>
          </a:p>
          <a:p>
            <a:endParaRPr sz="1400" dirty="0"/>
          </a:p>
          <a:p>
            <a:pPr marL="0" indent="0">
              <a:buNone/>
            </a:pPr>
            <a:r>
              <a:rPr sz="1600" b="1" dirty="0"/>
              <a:t>Adversarial Training Protocol</a:t>
            </a:r>
          </a:p>
          <a:p>
            <a:r>
              <a:rPr sz="1400" dirty="0"/>
              <a:t>Phase 1: Clean data training</a:t>
            </a:r>
          </a:p>
          <a:p>
            <a:r>
              <a:rPr sz="1400" dirty="0"/>
              <a:t>Phase 2: Generate adversarial examples (FGSM, PGD, C&amp;W)</a:t>
            </a:r>
          </a:p>
          <a:p>
            <a:r>
              <a:rPr sz="1400" dirty="0"/>
              <a:t>Phase 3: Joint training (70:30 </a:t>
            </a:r>
            <a:r>
              <a:rPr sz="1400" dirty="0" err="1"/>
              <a:t>clean:adv</a:t>
            </a:r>
            <a:r>
              <a:rPr sz="1400" dirty="0"/>
              <a:t>)</a:t>
            </a:r>
          </a:p>
          <a:p>
            <a:r>
              <a:rPr sz="1400" dirty="0"/>
              <a:t>Phase 4: Robust meta-learner training</a:t>
            </a:r>
          </a:p>
          <a:p>
            <a:endParaRPr sz="1400" dirty="0"/>
          </a:p>
          <a:p>
            <a:pPr marL="0" indent="0">
              <a:buNone/>
            </a:pPr>
            <a:r>
              <a:rPr sz="1600" b="1" dirty="0"/>
              <a:t>Concept Drift Adaptation</a:t>
            </a:r>
          </a:p>
          <a:p>
            <a:r>
              <a:rPr sz="1400" dirty="0"/>
              <a:t>- Monitoring: Sliding window statistical analysis</a:t>
            </a:r>
          </a:p>
          <a:p>
            <a:r>
              <a:rPr sz="1400" dirty="0"/>
              <a:t>- Detection: Configurable thresholds</a:t>
            </a:r>
          </a:p>
          <a:p>
            <a:r>
              <a:rPr sz="1400" dirty="0"/>
              <a:t>- Response: Incremental retraining with new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</TotalTime>
  <Words>1101</Words>
  <Application>Microsoft Office PowerPoint</Application>
  <PresentationFormat>On-screen Show (4:3)</PresentationFormat>
  <Paragraphs>136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Enhancing IOT BotNet Detection through Hybrid Ensemble Learning</vt:lpstr>
      <vt:lpstr>Introduction</vt:lpstr>
      <vt:lpstr>PowerPoint Presentation</vt:lpstr>
      <vt:lpstr>PowerPoint Presentation</vt:lpstr>
      <vt:lpstr>Existing System: IoT BotScan Framework</vt:lpstr>
      <vt:lpstr>Existing System: Performance Analysis</vt:lpstr>
      <vt:lpstr>Existing System: Critical Limitations</vt:lpstr>
      <vt:lpstr>Research Gaps</vt:lpstr>
      <vt:lpstr>Proposed System: Resilient Adaptive Architecture</vt:lpstr>
      <vt:lpstr>Technical Implementation Details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Sumesh Singh</cp:lastModifiedBy>
  <cp:revision>16</cp:revision>
  <dcterms:created xsi:type="dcterms:W3CDTF">2013-01-27T09:14:16Z</dcterms:created>
  <dcterms:modified xsi:type="dcterms:W3CDTF">2025-10-08T18:30:47Z</dcterms:modified>
  <cp:category/>
</cp:coreProperties>
</file>